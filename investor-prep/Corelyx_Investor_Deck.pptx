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029200" cy="5029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303520" cy="5303520"/>
          </a:xfrm>
          <a:prstGeom prst="ellipse">
            <a:avLst/>
          </a:prstGeom>
          <a:solidFill>
            <a:srgbClr val="2E9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6035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Corelyx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AI automation,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regulated EU teams.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to automate. Corelyx designs the agent graph, you tune it visually — then it runs itself.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2125066" cy="384048"/>
          </a:xfrm>
          <a:prstGeom prst="roundRect">
            <a:avLst>
              <a:gd name="adj" fmla="val 50000"/>
            </a:avLst>
          </a:prstGeom>
          <a:solidFill>
            <a:srgbClr val="242424">
              <a:alpha val="92000"/>
            </a:srgbClr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120640"/>
            <a:ext cx="2125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generation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48026" y="5120640"/>
            <a:ext cx="2629814" cy="384048"/>
          </a:xfrm>
          <a:prstGeom prst="roundRect">
            <a:avLst>
              <a:gd name="adj" fmla="val 50000"/>
            </a:avLst>
          </a:prstGeom>
          <a:solidFill>
            <a:srgbClr val="242424">
              <a:alpha val="92000"/>
            </a:srgbClr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8026" y="5120640"/>
            <a:ext cx="26298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+ AI-Act infrastructure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60720" y="5120640"/>
            <a:ext cx="1956816" cy="384048"/>
          </a:xfrm>
          <a:prstGeom prst="roundRect">
            <a:avLst>
              <a:gd name="adj" fmla="val 50000"/>
            </a:avLst>
          </a:prstGeom>
          <a:solidFill>
            <a:srgbClr val="242424">
              <a:alpha val="92000"/>
            </a:srgbClr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51206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 · 2026 · corelyx.app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029200" cy="5029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303520" cy="5303520"/>
          </a:xfrm>
          <a:prstGeom prst="ellipse">
            <a:avLst/>
          </a:prstGeom>
          <a:solidFill>
            <a:srgbClr val="2E9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tools weren't built for teams that get audited.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423160"/>
            <a:ext cx="54864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505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leaves the EU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and Make are US-first. EU ops teams can't route customer data through them without a procurement fight.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2423160"/>
            <a:ext cx="54864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4505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proof of what ran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971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workflow fires incorrectly, there's no run-level audit trail to show a regulator or a customer.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526280"/>
            <a:ext cx="54864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5537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human checkpoint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5074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actions — messages, record changes — fire automatically. Approval gates are missing or premium add-ons.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4297680"/>
            <a:ext cx="5212080" cy="1783080"/>
          </a:xfrm>
          <a:prstGeom prst="roundRect">
            <a:avLst>
              <a:gd name="adj" fmla="val 4615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4526280"/>
            <a:ext cx="54864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5537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bolted on, not designed 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29400" y="5074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with AI" buttons produce black-box logic that diverges from what actually executes.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CORELYX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029200" cy="5029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303520" cy="5303520"/>
          </a:xfrm>
          <a:prstGeom prst="ellipse">
            <a:avLst/>
          </a:prstGeom>
          <a:solidFill>
            <a:srgbClr val="2E9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loop: describe it, see it, run it.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9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950976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384048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in. Genesis runs an EU-regulatory pre-filter, then generates a validated workflow graph — triggers, branches, connectors, approval points.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42232" y="34747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44568" y="21488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37176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855464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Tune visually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55464" y="384048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is the executable schema. What you see is what runs — no hidden YAML. Edit any node, add an approval gate, inspect before activating.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34747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449056" y="21488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41664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759952" y="3291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&amp; prove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759952" y="384048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executes with server-side credentials. Every run records node status, outputs, approvals, and failures as compliance evidence.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 architecture — the canonical JSON workflow is the single source of truth shared by the editor and the runtime.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CORELYX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029200" cy="5029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303520" cy="5303520"/>
          </a:xfrm>
          <a:prstGeom prst="ellipse">
            <a:avLst/>
          </a:prstGeom>
          <a:solidFill>
            <a:srgbClr val="2E9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combination is the moat.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840480" y="2057400"/>
            <a:ext cx="2194560" cy="3401568"/>
          </a:xfrm>
          <a:prstGeom prst="rect">
            <a:avLst/>
          </a:prstGeom>
          <a:solidFill>
            <a:srgbClr val="2E9BFF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Corelyx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20574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26680" y="20574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0" y="20574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624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generation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6243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(Genesis)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6243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26680" y="26243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0" y="26243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2624328"/>
            <a:ext cx="1046988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912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posture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31912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319125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26680" y="319125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only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319125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191256"/>
            <a:ext cx="1046988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7581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37581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37581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26680" y="37581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0" y="37581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758184"/>
            <a:ext cx="1046988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3251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40480" y="43251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infra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35040" y="43251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US-first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26680" y="43251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418320" y="43251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US-first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325112"/>
            <a:ext cx="1046988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8920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Art. 30 records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0" y="4892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035040" y="4892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26680" y="4892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418320" y="4892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" y="4892040"/>
            <a:ext cx="1046988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806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</a:t>
            </a:r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workflow with AI, see exactly what runs, require human approval, and produce GDPR Art. 30 records — without leaving the product or booking a sales call.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CORELYX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029200" cy="5029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303520" cy="5303520"/>
          </a:xfrm>
          <a:prstGeom prst="ellipse">
            <a:avLst/>
          </a:prstGeom>
          <a:solidFill>
            <a:srgbClr val="2E9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TRACK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is structural — and already documented.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3520440" cy="3611880"/>
          </a:xfrm>
          <a:prstGeom prst="roundRect">
            <a:avLst>
              <a:gd name="adj" fmla="val 2338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57400"/>
            <a:ext cx="352044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50976" y="29260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DPIA + ROPA (controller &amp; processor)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on-product, no sales call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Code-backed subprocessor registry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Art. 30 processing records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export, delete, Art. 18 restrict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44568" y="2057400"/>
            <a:ext cx="3520440" cy="3611880"/>
          </a:xfrm>
          <a:prstGeom prst="roundRect">
            <a:avLst>
              <a:gd name="adj" fmla="val 2338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057400"/>
            <a:ext cx="352044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37176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AI Act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55464" y="29260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Deployer, not provider — no training/fine-tuning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Inventory for both AI systems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14 oversight: AI programs inactive until reviewed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50 transparency: model shown, AI-generated badge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 prohibited uses banned in 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49056" y="2057400"/>
            <a:ext cx="3520440" cy="3611880"/>
          </a:xfrm>
          <a:prstGeom prst="roundRect">
            <a:avLst>
              <a:gd name="adj" fmla="val 2338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49056" y="2057400"/>
            <a:ext cx="3520440" cy="73152"/>
          </a:xfrm>
          <a:prstGeom prst="rect">
            <a:avLst/>
          </a:prstGeom>
          <a:solidFill>
            <a:srgbClr val="2E9BFF"/>
          </a:solidFill>
          <a:ln/>
        </p:spPr>
      </p:sp>
      <p:sp>
        <p:nvSpPr>
          <p:cNvPr id="17" name="Text 15"/>
          <p:cNvSpPr/>
          <p:nvPr/>
        </p:nvSpPr>
        <p:spPr>
          <a:xfrm>
            <a:off x="8741664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residency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759952" y="29260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Frankfurt · Vercel FRA/DUB · Railway AMS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transit · AES-256 at rest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EU-only workspace mode blocks risky providers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pseudonymized before the LLM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Austrian law · Austrian DPA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CORELYX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029200" cy="5029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303520" cy="5303520"/>
          </a:xfrm>
          <a:prstGeom prst="ellipse">
            <a:avLst/>
          </a:prstGeom>
          <a:solidFill>
            <a:srgbClr val="2E9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trusted, not just to demo.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5120640" cy="3611880"/>
          </a:xfrm>
          <a:prstGeom prst="roundRect">
            <a:avLst>
              <a:gd name="adj" fmla="val 2278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50976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697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Flow editor · API routes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0976" y="32644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32644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LangGraph executor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50976" y="3831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38313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· Auth · RLS · Vault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0976" y="4398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43982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+ validators · generated DB types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50976" y="49651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49651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Inngest orchestration · Resend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2057400"/>
            <a:ext cx="5120640" cy="3611880"/>
          </a:xfrm>
          <a:prstGeom prst="roundRect">
            <a:avLst>
              <a:gd name="adj" fmla="val 2278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19088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controls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37376" y="269748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 — every row tenant-scoped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Vault, never returned to the browser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2FA on API routes; forged auth headers blocked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pseudonymized before any prompt leaves the EU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guard on agent nodes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Provider-signed webhooks; signed internal calls</a:t>
            </a:r>
            <a:endParaRPr lang="en-US" sz="12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disclosure + 24h–90d patch SLAs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are enforced in the engine — not bypassable via the API.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CORELYX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029200" cy="5029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303520" cy="5303520"/>
          </a:xfrm>
          <a:prstGeom prst="ellipse">
            <a:avLst/>
          </a:prstGeom>
          <a:solidFill>
            <a:srgbClr val="2E9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months from zero to a sellable surface.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542032" cy="2011680"/>
          </a:xfrm>
          <a:prstGeom prst="roundRect">
            <a:avLst>
              <a:gd name="adj" fmla="val 4091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56032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9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live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93008" y="2194560"/>
            <a:ext cx="2542032" cy="2011680"/>
          </a:xfrm>
          <a:prstGeom prst="roundRect">
            <a:avLst>
              <a:gd name="adj" fmla="val 4091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75888" y="256032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mo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675888" y="35204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commit to product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45936" y="2194560"/>
            <a:ext cx="2542032" cy="2011680"/>
          </a:xfrm>
          <a:prstGeom prst="roundRect">
            <a:avLst>
              <a:gd name="adj" fmla="val 4091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8816" y="256032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28816" y="35204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documented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98864" y="2194560"/>
            <a:ext cx="2542032" cy="2011680"/>
          </a:xfrm>
          <a:prstGeom prst="roundRect">
            <a:avLst>
              <a:gd name="adj" fmla="val 4091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81744" y="256032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381744" y="35204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EU-region production infra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velocity bought: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product, an AI generation pipeline, a Python execution runtime, 200+ connectors, and a complete EU-compliance documentation set — DPIA, ROPA, DPA, AI inventory, subprocessor registry. Compliance was designed in from day one, not retrofitted.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CORELYX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029200" cy="5029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303520" cy="5303520"/>
          </a:xfrm>
          <a:prstGeom prst="ellipse">
            <a:avLst/>
          </a:prstGeom>
          <a:solidFill>
            <a:srgbClr val="2E9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SaaS, with AI cost under control.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542032" cy="2468880"/>
          </a:xfrm>
          <a:prstGeom prst="roundRect">
            <a:avLst>
              <a:gd name="adj" fmla="val 3333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2542032" cy="73152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34015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programs · 50 runs/mo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93008" y="2103120"/>
            <a:ext cx="2542032" cy="2468880"/>
          </a:xfrm>
          <a:prstGeom prst="roundRect">
            <a:avLst>
              <a:gd name="adj" fmla="val 3333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93008" y="2103120"/>
            <a:ext cx="2542032" cy="73152"/>
          </a:xfrm>
          <a:prstGeom prst="rect">
            <a:avLst/>
          </a:prstGeom>
          <a:solidFill>
            <a:srgbClr val="2E9BFF"/>
          </a:solidFill>
          <a:ln/>
        </p:spPr>
      </p:sp>
      <p:sp>
        <p:nvSpPr>
          <p:cNvPr id="15" name="Text 13"/>
          <p:cNvSpPr/>
          <p:nvPr/>
        </p:nvSpPr>
        <p:spPr>
          <a:xfrm>
            <a:off x="3767328" y="23774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67328" y="278892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€9.90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767328" y="34015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67328" y="3703320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programs · 75 runs · BYOK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45936" y="2103120"/>
            <a:ext cx="2542032" cy="2468880"/>
          </a:xfrm>
          <a:prstGeom prst="roundRect">
            <a:avLst>
              <a:gd name="adj" fmla="val 3333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45936" y="2103120"/>
            <a:ext cx="254203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620256" y="23774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0256" y="278892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€19.90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620256" y="34015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0256" y="3703320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3 seats · approvals · 500 runs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98864" y="2103120"/>
            <a:ext cx="2542032" cy="2468880"/>
          </a:xfrm>
          <a:prstGeom prst="roundRect">
            <a:avLst>
              <a:gd name="adj" fmla="val 3333"/>
            </a:avLst>
          </a:prstGeom>
          <a:solidFill>
            <a:srgbClr val="242424">
              <a:alpha val="88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98864" y="2103120"/>
            <a:ext cx="254203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9473184" y="23774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73184" y="278892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€49.90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473184" y="34015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73184" y="3703320"/>
            <a:ext cx="2039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limits · more seats · history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9834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protection: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on paid tiers pushes LLM spend to the customer's own provider account; metered platform credits cover the no-setup path. We don't subsidize unbounded inference. EUR-invoiced by an EU entity.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CORELYX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029200" cy="5029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303520" cy="5303520"/>
          </a:xfrm>
          <a:prstGeom prst="ellipse">
            <a:avLst/>
          </a:prstGeom>
          <a:solidFill>
            <a:srgbClr val="2E9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ROUND FUNDS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know our gaps. Here's the plan to close them.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0881360" cy="603504"/>
          </a:xfrm>
          <a:prstGeom prst="roundRect">
            <a:avLst>
              <a:gd name="adj" fmla="val 13636"/>
            </a:avLst>
          </a:prstGeom>
          <a:solidFill>
            <a:srgbClr val="242424">
              <a:alpha val="82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34086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21031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structure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103120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(AT GmbH) · appoint/contract a DPO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603504"/>
          </a:xfrm>
          <a:prstGeom prst="roundRect">
            <a:avLst>
              <a:gd name="adj" fmla="val 13636"/>
            </a:avLst>
          </a:prstGeom>
          <a:solidFill>
            <a:srgbClr val="242424">
              <a:alpha val="82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054096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281635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data path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2816352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DPA + EU routing with OpenRouter, or move the platform default to an EU-hosted 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10881360" cy="603504"/>
          </a:xfrm>
          <a:prstGeom prst="roundRect">
            <a:avLst>
              <a:gd name="adj" fmla="val 13636"/>
            </a:avLst>
          </a:prstGeom>
          <a:solidFill>
            <a:srgbClr val="242424">
              <a:alpha val="82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767328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1207008" y="352958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assurance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3529584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pentest · SOC 2 Type I path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42816"/>
            <a:ext cx="10881360" cy="603504"/>
          </a:xfrm>
          <a:prstGeom prst="roundRect">
            <a:avLst>
              <a:gd name="adj" fmla="val 13636"/>
            </a:avLst>
          </a:prstGeom>
          <a:solidFill>
            <a:srgbClr val="242424">
              <a:alpha val="82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48056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1207008" y="424281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scopes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4242816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CASA verification to scale Gmail beyond the pilot cap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956048"/>
            <a:ext cx="10881360" cy="603504"/>
          </a:xfrm>
          <a:prstGeom prst="roundRect">
            <a:avLst>
              <a:gd name="adj" fmla="val 13636"/>
            </a:avLst>
          </a:prstGeom>
          <a:solidFill>
            <a:srgbClr val="242424">
              <a:alpha val="82000"/>
            </a:srgbClr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519379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1207008" y="495604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931920" y="4956048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EU ops/compliance design partners; convert pilots to paid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disclose these in our own public docs. Honest gaps + a funded plan beat a polished claim that doesn't survive diligence.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CORELYX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029200" cy="5029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303520" cy="5303520"/>
          </a:xfrm>
          <a:prstGeom prst="ellipse">
            <a:avLst/>
          </a:prstGeom>
          <a:solidFill>
            <a:srgbClr val="2E9B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621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Corelyx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automation tool an EU</a:t>
            </a:r>
            <a:endParaRPr lang="en-US" sz="3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4F4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team can actually buy.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workflows · visual, inspectable execution · human approval gates · GDPR &amp; AI-Act evidence built in. Strong product ahead of the corporate structure — the round closes that gap.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440680"/>
            <a:ext cx="1088136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corelyx.app</a:t>
            </a:r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legal@corelyx.app</a:t>
            </a:r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security@corelyx.app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Corelyx — Investor Deck</dc:title>
  <dc:subject>PptxGenJS Presentation</dc:subject>
  <dc:creator>Corelyx</dc:creator>
  <cp:lastModifiedBy>Corelyx</cp:lastModifiedBy>
  <cp:revision>1</cp:revision>
  <dcterms:created xsi:type="dcterms:W3CDTF">2026-06-13T16:04:53Z</dcterms:created>
  <dcterms:modified xsi:type="dcterms:W3CDTF">2026-06-13T16:04:53Z</dcterms:modified>
</cp:coreProperties>
</file>